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erriweather"/>
      <p:regular r:id="rId201314"/>
    </p:embeddedFont>
    <p:embeddedFont>
      <p:font typeface="Merriweather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6.png"/><Relationship Id="rId9" Type="http://schemas.openxmlformats.org/officeDocument/2006/relationships/image" Target="../media/image-2-7.svg"/><Relationship Id="rId10" Type="http://schemas.openxmlformats.org/officeDocument/2006/relationships/image" Target="../media/image-2-6.png"/><Relationship Id="rId11" Type="http://schemas.openxmlformats.org/officeDocument/2006/relationships/image" Target="../media/image-2-7.svg"/><Relationship Id="rId12" Type="http://schemas.openxmlformats.org/officeDocument/2006/relationships/image" Target="../media/image-2-12.png"/><Relationship Id="rId13" Type="http://schemas.openxmlformats.org/officeDocument/2006/relationships/image" Target="../media/image-2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1660227"/>
            <a:ext cx="6180181" cy="257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SagaraMesh: Solar &amp; Wave Powered Autonomous Floating Sea Rescue Mesh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291700" y="4539655"/>
            <a:ext cx="6180181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shared renewable-powered floating communication and rescue infrastructure for coastal fishermen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635298"/>
            <a:ext cx="6180181" cy="899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Problem: Fishermen Beyond the Network</a:t>
            </a:r>
            <a:endParaRPr lang="en-US" sz="2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814" y="1799630"/>
            <a:ext cx="2914478" cy="143470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9024" y="1962646"/>
            <a:ext cx="2512255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Communication Dead Zones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959024" y="2288282"/>
            <a:ext cx="2512255" cy="783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reliable mobile signal in many fishing routes — fishermen operate completely off-grid and unreachable.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814" y="3335040"/>
            <a:ext cx="2914478" cy="143470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9024" y="3498056"/>
            <a:ext cx="2512255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Missed Critical Alerts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959024" y="3823692"/>
            <a:ext cx="2512255" cy="783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Cyclone, storm, and tsunami warnings don't reach boats at sea — fishermen receive no advance notice.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9814" y="4870450"/>
            <a:ext cx="2914478" cy="123894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9024" y="5033466"/>
            <a:ext cx="2512255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Delayed Rescue Response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959024" y="5359102"/>
            <a:ext cx="2512255" cy="587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Without exact GPS location, rescue teams waste precious time searching vast ocean areas.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91867" y="1799630"/>
            <a:ext cx="2914478" cy="123894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31078" y="1962646"/>
            <a:ext cx="2512255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Distress Assessment Gap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4231078" y="2288282"/>
            <a:ext cx="2512255" cy="587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Rescue teams don't know the actual situation before arriving — blind deployment wastes resources.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91867" y="3139281"/>
            <a:ext cx="2914478" cy="123894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231078" y="3302298"/>
            <a:ext cx="2512255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Drifting Safety Systems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4231078" y="3627934"/>
            <a:ext cx="2512255" cy="587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Floating buoys can drift away if anchors detach, becoming completely useless in emergencies.</a:t>
            </a:r>
            <a:endParaRPr lang="en-US" sz="11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91867" y="4478933"/>
            <a:ext cx="2914478" cy="163046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231078" y="4641949"/>
            <a:ext cx="2512255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Affordability Barrier</a:t>
            </a:r>
            <a:endParaRPr lang="en-US" sz="1400" dirty="0"/>
          </a:p>
        </p:txBody>
      </p:sp>
      <p:sp>
        <p:nvSpPr>
          <p:cNvPr id="21" name="Text 12"/>
          <p:cNvSpPr/>
          <p:nvPr/>
        </p:nvSpPr>
        <p:spPr>
          <a:xfrm>
            <a:off x="4231078" y="4967585"/>
            <a:ext cx="2512255" cy="978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Existing systems are costly for individual fishermen. Tamil Nadu's coastal communities need affordable, autonomous, renewable sea-safety infrastructure.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11783"/>
            <a:ext cx="10752067" cy="1157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Solution: SagaraMesh Floating Infrastructure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19814" y="2102048"/>
            <a:ext cx="10752067" cy="562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network of </a:t>
            </a:r>
            <a:pPr algn="l" indent="0" marL="0">
              <a:lnSpc>
                <a:spcPct val="12700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solar and wave-powered smart buoys</a:t>
            </a:r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placed across fishing routes, creating a shared communication and rescue layer for the sea.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4" y="2852241"/>
            <a:ext cx="370176" cy="3701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9814" y="3430687"/>
            <a:ext cx="5271856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SOS &amp; GPS Relay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19814" y="3819823"/>
            <a:ext cx="5271856" cy="562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Receives SOS alerts and relays exact GPS location to shore via buoy-to-buoy mesh — no mobile towers needed.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925" y="2852241"/>
            <a:ext cx="370176" cy="3701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9925" y="3430687"/>
            <a:ext cx="5271956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Tamil-Language Alerts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99925" y="3819823"/>
            <a:ext cx="5271956" cy="562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Broadcasts weather and cyclone warnings in Tamil and local languages directly to fishermen at sea.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814" y="4715768"/>
            <a:ext cx="370176" cy="37018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9814" y="5294213"/>
            <a:ext cx="5271856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Drone &amp; ROV Deployment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719814" y="5683349"/>
            <a:ext cx="5271856" cy="562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Deploys drones, payloads, and underwater robots to assess emergencies before rescue teams arrive.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9925" y="4715768"/>
            <a:ext cx="370176" cy="37018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9925" y="5294213"/>
            <a:ext cx="5271956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Self-Powered &amp; Self-Repositioning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199925" y="5683349"/>
            <a:ext cx="5271956" cy="562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Powered by solar and wave energy. Autonomously returns to preset GPS coordinate if anchor detaches.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96516"/>
            <a:ext cx="10752067" cy="514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How It Works: From Distress to Rescue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605" y="1817588"/>
            <a:ext cx="5478623" cy="33419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6505" y="2470943"/>
            <a:ext cx="1248606" cy="16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SOS Sent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411075" y="3952528"/>
            <a:ext cx="1248606" cy="16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Buoy Alert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475065" y="2630338"/>
            <a:ext cx="1289170" cy="16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Mesh Relay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340579" y="4339787"/>
            <a:ext cx="1248606" cy="166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Command Receives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48829" y="2812094"/>
            <a:ext cx="1248606" cy="332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Drone/ROV Deploys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9814" y="5307608"/>
            <a:ext cx="6848304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full rescue loop — from SOS trigger to informed rescue dispatch — is coordinated autonomously through the mesh.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75897" y="1539677"/>
            <a:ext cx="3502235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Weather Alert Flow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897" y="1944787"/>
            <a:ext cx="822701" cy="119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30159" y="2109291"/>
            <a:ext cx="2547973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Weather Department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930159" y="2497931"/>
            <a:ext cx="2547973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Issues cyclone / storm / tsunami alert</a:t>
            </a:r>
            <a:endParaRPr lang="en-US" sz="12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897" y="3136305"/>
            <a:ext cx="822701" cy="14284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30159" y="3300809"/>
            <a:ext cx="2547973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SagaraMesh Buoys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930159" y="3689449"/>
            <a:ext cx="2547973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Receive and amplify the broadcast across the mesh network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897" y="4564757"/>
            <a:ext cx="822701" cy="14485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30159" y="4729262"/>
            <a:ext cx="2547973" cy="514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Fishermen Receive Warning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930159" y="5374977"/>
            <a:ext cx="2547973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Tamil and local-language audio/visual alert on boat device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814" y="673199"/>
            <a:ext cx="6180181" cy="899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Autonomous Rescue Assessment System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19814" y="1824930"/>
            <a:ext cx="2914478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Drone Deployment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19814" y="2150566"/>
            <a:ext cx="2914478" cy="1867495"/>
          </a:xfrm>
          <a:prstGeom prst="rect">
            <a:avLst/>
          </a:prstGeom>
          <a:noFill/>
          <a:ln/>
        </p:spPr>
        <p:txBody>
          <a:bodyPr wrap="square" lIns="0" tIns="57593" rIns="0" bIns="0" rtlCol="0" anchor="t">
            <a:normAutofit/>
          </a:bodyPr>
          <a:lstStyle/>
          <a:p>
            <a:pPr algn="l" marL="223520" indent="-223520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Aerial drone launches from buoy dock and flies to distress GPS location</a:t>
            </a:r>
            <a:endParaRPr lang="en-US" sz="1100" dirty="0"/>
          </a:p>
          <a:p>
            <a:pPr algn="l" marL="223520" indent="-223520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Captures live video and thermal imaging to detect people in water</a:t>
            </a:r>
            <a:endParaRPr lang="en-US" sz="1100" dirty="0"/>
          </a:p>
          <a:p>
            <a:pPr algn="l" marL="223520" indent="-223520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Drops emergency floating payload — flotation aid, LED beacon, first-aid kit, water</a:t>
            </a:r>
            <a:endParaRPr lang="en-US" sz="1100" dirty="0"/>
          </a:p>
          <a:p>
            <a:pPr algn="l" marL="223520" indent="-223520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Sends real-time assessment to shore command center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9814" y="4118769"/>
            <a:ext cx="2914478" cy="44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Underwater Robot (ROV) Deployment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9814" y="4669334"/>
            <a:ext cx="2914478" cy="818257"/>
          </a:xfrm>
          <a:prstGeom prst="rect">
            <a:avLst/>
          </a:prstGeom>
          <a:noFill/>
          <a:ln/>
        </p:spPr>
        <p:txBody>
          <a:bodyPr wrap="square" lIns="0" tIns="57593" rIns="0" bIns="0" rtlCol="0" anchor="t">
            <a:normAutofit/>
          </a:bodyPr>
          <a:lstStyle/>
          <a:p>
            <a:pPr algn="l" marL="223520" indent="-223520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Inspects capsized or sinking boats for underwater damage and hazards</a:t>
            </a:r>
            <a:endParaRPr lang="en-US" sz="1100" dirty="0"/>
          </a:p>
          <a:p>
            <a:pPr algn="l" marL="223520" indent="-223520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Camera, lights, and sonar for full underwater situation report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91867" y="1824930"/>
            <a:ext cx="2914478" cy="44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Self-Repositioning if Anchor Detaches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991867" y="2388096"/>
            <a:ext cx="287926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91867" y="2613620"/>
            <a:ext cx="2914478" cy="1905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1" name="Text 8"/>
          <p:cNvSpPr/>
          <p:nvPr/>
        </p:nvSpPr>
        <p:spPr>
          <a:xfrm>
            <a:off x="3991867" y="2723654"/>
            <a:ext cx="2914478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Monitor Position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991867" y="3049290"/>
            <a:ext cx="2914478" cy="391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GPS + anchor tension sensors continuously track buoy location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991867" y="3649464"/>
            <a:ext cx="287926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991867" y="3874988"/>
            <a:ext cx="2914478" cy="1905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5" name="Text 12"/>
          <p:cNvSpPr/>
          <p:nvPr/>
        </p:nvSpPr>
        <p:spPr>
          <a:xfrm>
            <a:off x="3991867" y="3985022"/>
            <a:ext cx="2914478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Detect Detachment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991867" y="4310658"/>
            <a:ext cx="2914478" cy="391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Anchor loss triggers immediate alert to command center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991867" y="4910832"/>
            <a:ext cx="287926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991867" y="5136356"/>
            <a:ext cx="2914478" cy="1905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9" name="Text 16"/>
          <p:cNvSpPr/>
          <p:nvPr/>
        </p:nvSpPr>
        <p:spPr>
          <a:xfrm>
            <a:off x="3991867" y="5246390"/>
            <a:ext cx="2914478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Auto-Navigate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991867" y="5572026"/>
            <a:ext cx="2914478" cy="391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Electric thrusters activate — buoy returns to preset GPS coordinate autonomously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956171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System Components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2010271"/>
            <a:ext cx="1447168" cy="8943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814" y="3161705"/>
            <a:ext cx="249519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Boat Device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19814" y="3606304"/>
            <a:ext cx="2495190" cy="164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Fisherman's unit: SOS button, GPS module, LoRa radio, waterproof casing, LED indicator, battery.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073" y="2010271"/>
            <a:ext cx="1447168" cy="8943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2073" y="3161705"/>
            <a:ext cx="249519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Floating Buoy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3472073" y="3606304"/>
            <a:ext cx="2495190" cy="197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Core infrastructure: solar panels, wave energy harvester, LoRa mesh radio, GPS, IMU, electric thrusters, LED beacon, siren, weather sensors.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333" y="2010271"/>
            <a:ext cx="1447168" cy="89435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24333" y="3161705"/>
            <a:ext cx="249519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Rescue Assessment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6224333" y="3606304"/>
            <a:ext cx="2495190" cy="197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Waterproof drone dock, thermal camera, payload drop mechanism, floating emergency kit, underwater ROV with camera and sonar.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6592" y="2010271"/>
            <a:ext cx="1447268" cy="8944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76592" y="3161804"/>
            <a:ext cx="2495289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Shore Command Center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8976592" y="3927673"/>
            <a:ext cx="2495289" cy="197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Receiver gateway, high-gain antenna, live dashboard with map tracking, SOS alert panel, drone/ROV status, rescue coordination, SMS alerts.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007566"/>
            <a:ext cx="10752067" cy="482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Existing Solutions vs. SagaraMesh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19814" y="1720949"/>
            <a:ext cx="10752067" cy="3486646"/>
          </a:xfrm>
          <a:prstGeom prst="roundRect">
            <a:avLst>
              <a:gd name="adj" fmla="val 1858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9814" y="2097881"/>
            <a:ext cx="10752067" cy="96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9814" y="2471638"/>
            <a:ext cx="10752067" cy="96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9814" y="2845395"/>
            <a:ext cx="10752067" cy="96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9814" y="3435152"/>
            <a:ext cx="10752067" cy="96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9814" y="4024908"/>
            <a:ext cx="10752067" cy="96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9814" y="4614664"/>
            <a:ext cx="10752067" cy="96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6362" y="1727299"/>
            <a:ext cx="2147834" cy="370582"/>
          </a:xfrm>
          <a:custGeom>
            <a:avLst/>
            <a:gdLst/>
            <a:ahLst/>
            <a:cxnLst/>
            <a:rect l="l" t="t" r="r" b="b"/>
            <a:pathLst>
              <a:path w="2147834" h="370582">
                <a:moveTo>
                  <a:pt x="53993" y="0"/>
                </a:moveTo>
                <a:lnTo>
                  <a:pt x="2147834" y="0"/>
                </a:lnTo>
                <a:lnTo>
                  <a:pt x="2147834" y="370582"/>
                </a:lnTo>
                <a:lnTo>
                  <a:pt x="0" y="370582"/>
                </a:lnTo>
                <a:lnTo>
                  <a:pt x="0" y="53994"/>
                </a:lnTo>
                <a:arcTo hR="53994" wR="53993" stAng="10800000" swAng="5400000"/>
                <a:close/>
              </a:path>
            </a:pathLst>
          </a:custGeom>
          <a:solidFill>
            <a:srgbClr val="1A237E"/>
          </a:solidFill>
          <a:ln/>
        </p:spPr>
      </p:sp>
      <p:sp>
        <p:nvSpPr>
          <p:cNvPr id="11" name="Text 9"/>
          <p:cNvSpPr/>
          <p:nvPr/>
        </p:nvSpPr>
        <p:spPr>
          <a:xfrm>
            <a:off x="880544" y="1803003"/>
            <a:ext cx="2449054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74196" y="1727299"/>
            <a:ext cx="2684792" cy="37058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1"/>
          <p:cNvSpPr/>
          <p:nvPr/>
        </p:nvSpPr>
        <p:spPr>
          <a:xfrm>
            <a:off x="3028378" y="1803003"/>
            <a:ext cx="2986013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Type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58988" y="1727299"/>
            <a:ext cx="3221751" cy="370582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5" name="Text 13"/>
          <p:cNvSpPr/>
          <p:nvPr/>
        </p:nvSpPr>
        <p:spPr>
          <a:xfrm>
            <a:off x="5713170" y="1803003"/>
            <a:ext cx="3522971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Key Limitation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80739" y="1727299"/>
            <a:ext cx="2684792" cy="370582"/>
          </a:xfrm>
          <a:custGeom>
            <a:avLst/>
            <a:gdLst/>
            <a:ahLst/>
            <a:cxnLst/>
            <a:rect l="l" t="t" r="r" b="b"/>
            <a:pathLst>
              <a:path w="2684792" h="370582">
                <a:moveTo>
                  <a:pt x="0" y="0"/>
                </a:moveTo>
                <a:lnTo>
                  <a:pt x="2630799" y="0"/>
                </a:lnTo>
                <a:arcTo hR="53994" wR="53993" stAng="16200000" swAng="5400000"/>
                <a:lnTo>
                  <a:pt x="2684792" y="370582"/>
                </a:lnTo>
                <a:lnTo>
                  <a:pt x="0" y="370582"/>
                </a:lnTo>
                <a:lnTo>
                  <a:pt x="0" y="0"/>
                </a:lnTo>
                <a:close/>
              </a:path>
            </a:pathLst>
          </a:custGeom>
          <a:solidFill>
            <a:srgbClr val="1A237E"/>
          </a:solidFill>
          <a:ln/>
        </p:spPr>
      </p:sp>
      <p:sp>
        <p:nvSpPr>
          <p:cNvPr id="17" name="Text 15"/>
          <p:cNvSpPr/>
          <p:nvPr/>
        </p:nvSpPr>
        <p:spPr>
          <a:xfrm>
            <a:off x="8934921" y="1803003"/>
            <a:ext cx="2986013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SagaraMesh Advantage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0544" y="2176760"/>
            <a:ext cx="2449054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ISRO DAT-SG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28378" y="2176760"/>
            <a:ext cx="2986013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Satellite distress alert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3170" y="2176760"/>
            <a:ext cx="3522971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Alert-only, expensive per unit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34921" y="2176760"/>
            <a:ext cx="2986013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Shared mesh + full rescue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0544" y="2550517"/>
            <a:ext cx="2449054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EPIRB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28378" y="2550517"/>
            <a:ext cx="2986013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Marine emergency beacon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13170" y="2550517"/>
            <a:ext cx="3522971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One-way signal, no mesh comm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34921" y="2550517"/>
            <a:ext cx="2986013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Two-way + buoy-to-buoy relay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0544" y="2924274"/>
            <a:ext cx="2449054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PLB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28378" y="2924274"/>
            <a:ext cx="2986013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Personal locator beacon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13170" y="2924274"/>
            <a:ext cx="2913386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Each person must carry one, no shared infra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34921" y="2924274"/>
            <a:ext cx="2376428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Community infrastructure, one buoy = many boats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80544" y="3514030"/>
            <a:ext cx="2449054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AIS MOB Devices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28378" y="3514030"/>
            <a:ext cx="2986013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Man-overboard AIS alert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13170" y="3514030"/>
            <a:ext cx="3522971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Limited range, needs nearby vessels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34921" y="3514030"/>
            <a:ext cx="2376428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Independent mesh, no vessel dependency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80544" y="4103787"/>
            <a:ext cx="2449054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GMDSS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28378" y="4103787"/>
            <a:ext cx="2986013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Global maritime distress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713170" y="4103787"/>
            <a:ext cx="2913386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Designed for large ships, not fishing boats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934921" y="4103787"/>
            <a:ext cx="2376428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Built for small-boat coastal fishermen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80544" y="4693543"/>
            <a:ext cx="1839470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Ocean Monitoring Buoys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28378" y="4693543"/>
            <a:ext cx="2986013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Sensor / research buoy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713170" y="4693543"/>
            <a:ext cx="2913386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fisherman communication or rescue coord.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934921" y="4693543"/>
            <a:ext cx="2376428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SOS + weather + tracking + drone/ROV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19814" y="5337671"/>
            <a:ext cx="10752067" cy="512763"/>
          </a:xfrm>
          <a:prstGeom prst="roundRect">
            <a:avLst>
              <a:gd name="adj" fmla="val 12636"/>
            </a:avLst>
          </a:prstGeom>
          <a:solidFill>
            <a:srgbClr val="003180"/>
          </a:solidFill>
          <a:ln/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996" y="5502970"/>
            <a:ext cx="192777" cy="154186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220955" y="5491857"/>
            <a:ext cx="10706328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SagaraMesh is not just an SOS device — it is a renewable-powered floating communication and rescue layer for the sea.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76461"/>
            <a:ext cx="10752067" cy="33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Strengths, Impact &amp; Feasibility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19814" y="1676301"/>
            <a:ext cx="359103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Core Strengths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9814" y="1868984"/>
            <a:ext cx="359103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Social Impact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19814" y="2096095"/>
            <a:ext cx="3591034" cy="856655"/>
          </a:xfrm>
          <a:prstGeom prst="rect">
            <a:avLst/>
          </a:prstGeom>
          <a:noFill/>
          <a:ln/>
        </p:spPr>
        <p:txBody>
          <a:bodyPr wrap="square" lIns="0" tIns="43452" rIns="0" bIns="0" rtlCol="0" anchor="t">
            <a:normAutofit/>
          </a:bodyPr>
          <a:lstStyle/>
          <a:p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Faster rescue response times &amp; reduced missing fishermen cases</a:t>
            </a:r>
            <a:endParaRPr lang="en-US" sz="850" dirty="0"/>
          </a:p>
          <a:p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Better cyclone and storm warnings for safer coastal livelihoods</a:t>
            </a:r>
            <a:endParaRPr lang="en-US" sz="850" dirty="0"/>
          </a:p>
          <a:p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Support for Coast Guard, families, and disaster management authorities</a:t>
            </a:r>
            <a:endParaRPr lang="en-US" sz="850" dirty="0"/>
          </a:p>
          <a:p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Future expansion: weather, pollution, and water-quality monitoring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82105" y="1059259"/>
            <a:ext cx="6896126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Hackathon MVP Flow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972" y="1293515"/>
            <a:ext cx="4482393" cy="16819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0632" y="2502043"/>
            <a:ext cx="676044" cy="260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Deploy Drone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558631" y="2567161"/>
            <a:ext cx="676044" cy="130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Show Alert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711260" y="2502043"/>
            <a:ext cx="676044" cy="260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Shore Gateway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863889" y="2567161"/>
            <a:ext cx="676045" cy="130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Send GPS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997997" y="2567161"/>
            <a:ext cx="676045" cy="130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Press SOS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82105" y="3039963"/>
            <a:ext cx="6896126" cy="26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Uses common components: </a:t>
            </a:r>
            <a:pPr algn="l"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ESP32 / Arduino / Raspberry Pi Pico, LoRa modules, GPS, SOS button, solar panel, battery, waterproof enclosure, simple dashboard.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582105" y="3362821"/>
            <a:ext cx="6896126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Scalability Path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19814" y="3654425"/>
            <a:ext cx="2645006" cy="399554"/>
          </a:xfrm>
          <a:prstGeom prst="roundRect">
            <a:avLst>
              <a:gd name="adj" fmla="val 1141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4706" y="3769320"/>
            <a:ext cx="2415222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Works Without Mobile Network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422168" y="3654425"/>
            <a:ext cx="2645006" cy="399554"/>
          </a:xfrm>
          <a:prstGeom prst="roundRect">
            <a:avLst>
              <a:gd name="adj" fmla="val 1141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37060" y="3769320"/>
            <a:ext cx="2415222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Solar + Wave Powered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24521" y="3654425"/>
            <a:ext cx="2645006" cy="399554"/>
          </a:xfrm>
          <a:prstGeom prst="roundRect">
            <a:avLst>
              <a:gd name="adj" fmla="val 1141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9413" y="3769320"/>
            <a:ext cx="2415222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Two-Way Communication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826874" y="3654425"/>
            <a:ext cx="2645006" cy="399554"/>
          </a:xfrm>
          <a:prstGeom prst="roundRect">
            <a:avLst>
              <a:gd name="adj" fmla="val 1141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41767" y="3769320"/>
            <a:ext cx="2415222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Drone &amp; ROV Assessment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19814" y="4111327"/>
            <a:ext cx="5347360" cy="399554"/>
          </a:xfrm>
          <a:prstGeom prst="roundRect">
            <a:avLst>
              <a:gd name="adj" fmla="val 1141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4706" y="4226223"/>
            <a:ext cx="5117575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Tamil-Language Alerts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124521" y="4111327"/>
            <a:ext cx="5347360" cy="399554"/>
          </a:xfrm>
          <a:prstGeom prst="roundRect">
            <a:avLst>
              <a:gd name="adj" fmla="val 1141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39413" y="4226223"/>
            <a:ext cx="5117575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Self-Repositioning</a:t>
            </a:r>
            <a:endParaRPr lang="en-US" sz="105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14" y="4738291"/>
            <a:ext cx="5347360" cy="9525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28357" y="5121473"/>
            <a:ext cx="5130275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Prototype</a:t>
            </a:r>
            <a:endParaRPr lang="en-US" sz="10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521" y="4575373"/>
            <a:ext cx="5347360" cy="9525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233064" y="4958556"/>
            <a:ext cx="5130275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Village Pilot</a:t>
            </a:r>
            <a:endParaRPr lang="en-US" sz="10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4" y="5620048"/>
            <a:ext cx="5347360" cy="9525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28357" y="6003230"/>
            <a:ext cx="5130275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District Coastline</a:t>
            </a:r>
            <a:endParaRPr lang="en-US" sz="10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4521" y="5457130"/>
            <a:ext cx="5347360" cy="9525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233064" y="5840313"/>
            <a:ext cx="5130275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Indian Coastal Network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71128"/>
            <a:ext cx="10752067" cy="482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SagaraMesh is Different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9814" y="1542355"/>
            <a:ext cx="5187919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Existing Solutions Do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4" y="1913533"/>
            <a:ext cx="2536067" cy="9944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9244" y="2086769"/>
            <a:ext cx="2113406" cy="647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Individual boat/device-based — each fisherman pays separately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1567" y="1913533"/>
            <a:ext cx="2536166" cy="9944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20997" y="2086769"/>
            <a:ext cx="2113505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Satellite-only — expensive, one-way, no local fallback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814" y="3023691"/>
            <a:ext cx="2536067" cy="9944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9244" y="3196927"/>
            <a:ext cx="2113406" cy="647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Distress alert only — no weather, tracking, or rescue assessment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71567" y="3023691"/>
            <a:ext cx="2536166" cy="9944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20997" y="3196927"/>
            <a:ext cx="2113505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local-language support — not culturally accessible</a:t>
            </a:r>
            <a:endParaRPr lang="en-US" sz="12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9814" y="4133850"/>
            <a:ext cx="2536067" cy="77847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9244" y="4307086"/>
            <a:ext cx="2113406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Buoys drift if anchor fails — no self-correction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6179288" y="1426666"/>
            <a:ext cx="5409965" cy="4660106"/>
          </a:xfrm>
          <a:prstGeom prst="roundRect">
            <a:avLst>
              <a:gd name="adj" fmla="val 2383"/>
            </a:avLst>
          </a:prstGeom>
          <a:solidFill>
            <a:srgbClr val="1A237E">
              <a:alpha val="95000"/>
            </a:srgbClr>
          </a:solidFill>
          <a:ln/>
        </p:spPr>
      </p:sp>
      <p:sp>
        <p:nvSpPr>
          <p:cNvPr id="15" name="Text 8"/>
          <p:cNvSpPr/>
          <p:nvPr/>
        </p:nvSpPr>
        <p:spPr>
          <a:xfrm>
            <a:off x="6333470" y="1542355"/>
            <a:ext cx="510160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What SagaraMesh Does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6333470" y="1913533"/>
            <a:ext cx="2492908" cy="1566962"/>
          </a:xfrm>
          <a:prstGeom prst="roundRect">
            <a:avLst>
              <a:gd name="adj" fmla="val 413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6494002" y="2074069"/>
            <a:ext cx="2171844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Shared floating infrastructure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6494002" y="2671961"/>
            <a:ext cx="2171844" cy="647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One buoy serves many boats — community deployment model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8942065" y="1913533"/>
            <a:ext cx="2493007" cy="1566962"/>
          </a:xfrm>
          <a:prstGeom prst="roundRect">
            <a:avLst>
              <a:gd name="adj" fmla="val 413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02596" y="2074069"/>
            <a:ext cx="217194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Local mesh + satellite backup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9102596" y="2671961"/>
            <a:ext cx="2171943" cy="647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Buoy-to-buoy LoRa relay — works without internet or mobile towers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333470" y="3596184"/>
            <a:ext cx="2492908" cy="1350962"/>
          </a:xfrm>
          <a:prstGeom prst="roundRect">
            <a:avLst>
              <a:gd name="adj" fmla="val 4796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494002" y="3756720"/>
            <a:ext cx="2171844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SOS + weather + tracking + rescue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494002" y="4354612"/>
            <a:ext cx="2171844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Comprehensive safety layer, not just an alert button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942065" y="3596184"/>
            <a:ext cx="2493007" cy="1350962"/>
          </a:xfrm>
          <a:prstGeom prst="roundRect">
            <a:avLst>
              <a:gd name="adj" fmla="val 4796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9102596" y="3756720"/>
            <a:ext cx="2171943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Tamil-language alerts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102596" y="4113510"/>
            <a:ext cx="2171943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Culturally relevant, locally accessible broadcasts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333470" y="5062835"/>
            <a:ext cx="5101601" cy="893862"/>
          </a:xfrm>
          <a:prstGeom prst="roundRect">
            <a:avLst>
              <a:gd name="adj" fmla="val 724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494002" y="5223371"/>
            <a:ext cx="478053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Self-repositions autonomously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6494002" y="5580162"/>
            <a:ext cx="4780537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Returns to preset GPS coordinate if anchor detaches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28749"/>
            <a:ext cx="10752067" cy="482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SagaraMesh Can Win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19814" y="1342132"/>
            <a:ext cx="347059" cy="347067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2559" y="1395115"/>
            <a:ext cx="1028932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Solves a Real Life-or-Death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2559" y="1705570"/>
            <a:ext cx="10289322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Fishermen die because they can't communicate or receive warnings. SagaraMesh fixes this at the infrastructure level.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9814" y="2152948"/>
            <a:ext cx="347059" cy="347067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2559" y="2205930"/>
            <a:ext cx="1028932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Multidisciplinary Excellence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2559" y="2516386"/>
            <a:ext cx="10289322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Hardware, LoRa communication, renewable energy, robotics, and disaster management — all in one platform.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9814" y="2963763"/>
            <a:ext cx="347059" cy="347067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2559" y="3016746"/>
            <a:ext cx="1028932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Clearly Differentiated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2559" y="3327202"/>
            <a:ext cx="10289322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Floating mesh infrastructure + autonomous drone/ROV rescue assessment vs. every existing individual-device solution.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9814" y="3774579"/>
            <a:ext cx="347059" cy="347067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2559" y="3827562"/>
            <a:ext cx="1028932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Feasible, Scalable, Affordable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2559" y="4138017"/>
            <a:ext cx="10289322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Demonstrable MVP in 48 hours. Scales from village pilot to national coastal network. Shared infrastructure slashes per-fisherman cost.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9814" y="4585395"/>
            <a:ext cx="347059" cy="347067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2559" y="4638377"/>
            <a:ext cx="10289322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Multi-Stakeholder Value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2559" y="4948833"/>
            <a:ext cx="10289322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Fishermen, families, rescue teams, Coast Guard, and disaster management authorities all benefit from one shared platform.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1186" y="5468441"/>
            <a:ext cx="10520695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BCD4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SagaraMesh turns the sea itself into a safety and rescue network.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394" y="5883077"/>
            <a:ext cx="11130279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Connecting fishermen. Assessing danger. Saving lives. Protecting coastal communities.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9814" y="5294908"/>
            <a:ext cx="19050" cy="934244"/>
          </a:xfrm>
          <a:prstGeom prst="roundRect">
            <a:avLst>
              <a:gd name="adj" fmla="val 49999"/>
            </a:avLst>
          </a:prstGeom>
          <a:solidFill>
            <a:srgbClr val="609D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2026-08-23T17:56:34Z</dcterms:created>
  <dcterms:modified xsi:type="dcterms:W3CDTF">2026-08-23T17:56:34Z</dcterms:modified>
</cp:coreProperties>
</file>